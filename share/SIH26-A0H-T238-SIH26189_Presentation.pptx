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49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IBM/AMLSim/?ut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github.com/IBM/AML-Data/blob/main/README.md?utm_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eo4j.com/docs/graph-data-science-client/current/tutorials/community-detection/?utm_" TargetMode="External"/><Relationship Id="rId5" Type="http://schemas.openxmlformats.org/officeDocument/2006/relationships/hyperlink" Target="https://neo4j.com/docs/graph-data-science/current/algorithms/centrality/?utm_" TargetMode="External"/><Relationship Id="rId4" Type="http://schemas.openxmlformats.org/officeDocument/2006/relationships/hyperlink" Target="https://journals.plos.org/plosone/article?id=10.1371%2Fjournal.pone.0154244&amp;utm" TargetMode="External"/><Relationship Id="rId9" Type="http://schemas.openxmlformats.org/officeDocument/2006/relationships/hyperlink" Target="https://www.mdpi.com/1999-4893/14/12/341?utm_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428332"/>
            <a:ext cx="68964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26189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dirty="0"/>
              <a:t> </a:t>
            </a:r>
          </a:p>
          <a:p>
            <a:pPr algn="just">
              <a:lnSpc>
                <a:spcPct val="100000"/>
              </a:lnSpc>
            </a:pPr>
            <a:r>
              <a:rPr lang="en-IN" sz="2400" dirty="0"/>
              <a:t>	  AI-Powered Criminal Network Analysis System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Block chain and 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SIH26-A0H-T238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ISIS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1092" y="621912"/>
            <a:ext cx="8078643" cy="503238"/>
          </a:xfrm>
        </p:spPr>
        <p:txBody>
          <a:bodyPr/>
          <a:lstStyle/>
          <a:p>
            <a:pPr eaLnBrk="1" hangingPunct="1"/>
            <a:r>
              <a:rPr lang="en-IN" sz="3200" b="1" dirty="0"/>
              <a:t>AI-Powered Criminal Network Analysis System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6612" y="6425409"/>
            <a:ext cx="24384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676239A6-D72B-DAF1-9409-CFCEC1E39BC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2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ISIS</a:t>
            </a:r>
            <a:endParaRPr lang="en-IN" sz="28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38BE34-ED24-21DB-3B41-D157C927485D}"/>
              </a:ext>
            </a:extLst>
          </p:cNvPr>
          <p:cNvSpPr/>
          <p:nvPr/>
        </p:nvSpPr>
        <p:spPr>
          <a:xfrm>
            <a:off x="102637" y="1308801"/>
            <a:ext cx="5325398" cy="4788337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F4CD91-0FD2-CDD6-BA5D-E243914607A7}"/>
              </a:ext>
            </a:extLst>
          </p:cNvPr>
          <p:cNvSpPr txBox="1"/>
          <p:nvPr/>
        </p:nvSpPr>
        <p:spPr>
          <a:xfrm>
            <a:off x="328403" y="1308801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Idea/Solution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7ECA77-2312-1178-8FE0-32A3F3EED3BA}"/>
              </a:ext>
            </a:extLst>
          </p:cNvPr>
          <p:cNvSpPr txBox="1"/>
          <p:nvPr/>
        </p:nvSpPr>
        <p:spPr>
          <a:xfrm>
            <a:off x="162064" y="1849821"/>
            <a:ext cx="5110327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❖ </a:t>
            </a:r>
            <a:r>
              <a:rPr lang="en-IN" sz="1600" b="1" dirty="0"/>
              <a:t>AI-Powered Intelligence Pipeline</a:t>
            </a:r>
            <a:r>
              <a:rPr lang="en-IN" sz="1600" dirty="0"/>
              <a:t> to process fragmented structured and unstructured criminal data from multiple investigation sources.</a:t>
            </a:r>
          </a:p>
          <a:p>
            <a:r>
              <a:rPr lang="en-IN" sz="1600" dirty="0"/>
              <a:t>❖ </a:t>
            </a:r>
            <a:r>
              <a:rPr lang="en-IN" sz="1600" b="1" dirty="0"/>
              <a:t>NLP-Based Entity Extraction</a:t>
            </a:r>
            <a:r>
              <a:rPr lang="en-IN" sz="1600" dirty="0"/>
              <a:t> to automatically identify people, locations, organizations, vehicles, phone numbers, and events from reports.</a:t>
            </a:r>
          </a:p>
          <a:p>
            <a:r>
              <a:rPr lang="en-IN" sz="1600" dirty="0"/>
              <a:t>❖ </a:t>
            </a:r>
            <a:r>
              <a:rPr lang="en-IN" sz="1600" b="1" dirty="0"/>
              <a:t>Relationship &amp; Network Mapping</a:t>
            </a:r>
            <a:r>
              <a:rPr lang="en-IN" sz="1600" dirty="0"/>
              <a:t> to connect extracted entities and uncover hidden associations between suspects and activities.</a:t>
            </a:r>
          </a:p>
          <a:p>
            <a:r>
              <a:rPr lang="en-IN" sz="1600" dirty="0"/>
              <a:t>❖ </a:t>
            </a:r>
            <a:r>
              <a:rPr lang="en-IN" sz="1600" b="1" dirty="0"/>
              <a:t>Graph Analytics + AI</a:t>
            </a:r>
            <a:r>
              <a:rPr lang="en-IN" sz="1600" dirty="0"/>
              <a:t> to identify key influencers, criminal communities, suspicious patterns, and unusual activities.</a:t>
            </a:r>
          </a:p>
          <a:p>
            <a:r>
              <a:rPr lang="en-IN" sz="1600" dirty="0"/>
              <a:t>❖ </a:t>
            </a:r>
            <a:r>
              <a:rPr lang="en-IN" sz="1600" b="1" dirty="0"/>
              <a:t>Interactive Investigator Dashboard</a:t>
            </a:r>
            <a:r>
              <a:rPr lang="en-IN" sz="1600" dirty="0"/>
              <a:t> for visualizing networks, exploring connections, searching entities, and analysing timelines.</a:t>
            </a:r>
          </a:p>
          <a:p>
            <a:r>
              <a:rPr lang="en-IN" sz="1600" dirty="0"/>
              <a:t>❖ </a:t>
            </a:r>
            <a:r>
              <a:rPr lang="en-IN" sz="1600" b="1" dirty="0"/>
              <a:t>Blockchain-Based Audit Layer</a:t>
            </a:r>
            <a:r>
              <a:rPr lang="en-IN" sz="1600" dirty="0"/>
              <a:t> to ensure tamper-evident records, data integrity, and secure access to sensitive investigation data.</a:t>
            </a:r>
          </a:p>
          <a:p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AEA819E-D781-8F67-75FF-2764BCA37129}"/>
              </a:ext>
            </a:extLst>
          </p:cNvPr>
          <p:cNvSpPr/>
          <p:nvPr/>
        </p:nvSpPr>
        <p:spPr>
          <a:xfrm>
            <a:off x="5846323" y="1123969"/>
            <a:ext cx="5922481" cy="241536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7B485C-78AF-7307-EE50-DF2CD652F482}"/>
              </a:ext>
            </a:extLst>
          </p:cNvPr>
          <p:cNvSpPr txBox="1"/>
          <p:nvPr/>
        </p:nvSpPr>
        <p:spPr>
          <a:xfrm>
            <a:off x="5941116" y="1185282"/>
            <a:ext cx="59224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Problem Resolution:</a:t>
            </a:r>
          </a:p>
          <a:p>
            <a:r>
              <a:rPr lang="en-IN" sz="1600" dirty="0"/>
              <a:t>❖ Converts </a:t>
            </a:r>
            <a:r>
              <a:rPr lang="en-IN" sz="1600" b="1" dirty="0"/>
              <a:t>fragmented data into a connected criminal network</a:t>
            </a:r>
            <a:r>
              <a:rPr lang="en-IN" sz="1600" dirty="0"/>
              <a:t>, reducing manual effort in linking information.</a:t>
            </a:r>
          </a:p>
          <a:p>
            <a:r>
              <a:rPr lang="en-IN" sz="1600" dirty="0"/>
              <a:t>❖ Enables </a:t>
            </a:r>
            <a:r>
              <a:rPr lang="en-IN" sz="1600" b="1" dirty="0"/>
              <a:t>faster identification of hidden relationships</a:t>
            </a:r>
            <a:r>
              <a:rPr lang="en-IN" sz="1600" dirty="0"/>
              <a:t> that may be difficult to detect through traditional investigation methods.</a:t>
            </a:r>
          </a:p>
          <a:p>
            <a:r>
              <a:rPr lang="en-IN" sz="1600" dirty="0"/>
              <a:t>❖ Provides </a:t>
            </a:r>
            <a:r>
              <a:rPr lang="en-IN" sz="1600" b="1" dirty="0"/>
              <a:t>AI-assisted pattern and anomaly detection</a:t>
            </a:r>
            <a:r>
              <a:rPr lang="en-IN" sz="1600" dirty="0"/>
              <a:t> to highlight potentially suspicious activities for investigator review.</a:t>
            </a:r>
          </a:p>
          <a:p>
            <a:r>
              <a:rPr lang="en-IN" sz="1600" dirty="0"/>
              <a:t>❖ Offers </a:t>
            </a:r>
            <a:r>
              <a:rPr lang="en-IN" sz="1600" b="1" dirty="0"/>
              <a:t>visual and analytical insights</a:t>
            </a:r>
            <a:r>
              <a:rPr lang="en-IN" sz="1600" dirty="0"/>
              <a:t> that help investigators understand complex networks more efficiently.</a:t>
            </a:r>
          </a:p>
          <a:p>
            <a:endParaRPr lang="en-IN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53C1E3-BE3D-842C-879C-FC20C34D59B7}"/>
              </a:ext>
            </a:extLst>
          </p:cNvPr>
          <p:cNvSpPr/>
          <p:nvPr/>
        </p:nvSpPr>
        <p:spPr>
          <a:xfrm>
            <a:off x="5846323" y="3655220"/>
            <a:ext cx="5922481" cy="24667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71347F-0EC7-8222-9486-5D3C736BE234}"/>
              </a:ext>
            </a:extLst>
          </p:cNvPr>
          <p:cNvSpPr txBox="1"/>
          <p:nvPr/>
        </p:nvSpPr>
        <p:spPr>
          <a:xfrm>
            <a:off x="5872631" y="3608901"/>
            <a:ext cx="592248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Unique Value Propositions:</a:t>
            </a:r>
          </a:p>
          <a:p>
            <a:r>
              <a:rPr lang="en-IN" sz="1600" dirty="0"/>
              <a:t>❖ </a:t>
            </a:r>
            <a:r>
              <a:rPr lang="en-IN" sz="1600" b="1" dirty="0"/>
              <a:t>Unified Intelligence Pipeline</a:t>
            </a:r>
            <a:r>
              <a:rPr lang="en-IN" sz="1600" dirty="0"/>
              <a:t> – Multiple data sources → AI → Knowledge Graph.</a:t>
            </a:r>
          </a:p>
          <a:p>
            <a:r>
              <a:rPr lang="en-IN" sz="1600" dirty="0"/>
              <a:t>❖ </a:t>
            </a:r>
            <a:r>
              <a:rPr lang="en-IN" sz="1600" b="1" dirty="0"/>
              <a:t>Hidden Network Discovery</a:t>
            </a:r>
            <a:r>
              <a:rPr lang="en-IN" sz="1600" dirty="0"/>
              <a:t> through relationship mapping and graph analytics.</a:t>
            </a:r>
          </a:p>
          <a:p>
            <a:r>
              <a:rPr lang="en-IN" sz="1600" dirty="0"/>
              <a:t>❖ </a:t>
            </a:r>
            <a:r>
              <a:rPr lang="en-IN" sz="1600" b="1" dirty="0"/>
              <a:t>AI-Assisted Investigation</a:t>
            </a:r>
            <a:r>
              <a:rPr lang="en-IN" sz="1600" dirty="0"/>
              <a:t> using entity extraction and anomaly detection.</a:t>
            </a:r>
          </a:p>
          <a:p>
            <a:r>
              <a:rPr lang="en-IN" sz="1600" dirty="0"/>
              <a:t>❖ </a:t>
            </a:r>
            <a:r>
              <a:rPr lang="en-IN" sz="1600" b="1" dirty="0"/>
              <a:t>Interactive Visual Intelligence</a:t>
            </a:r>
            <a:r>
              <a:rPr lang="en-IN" sz="1600" dirty="0"/>
              <a:t> with network graphs and timeline analysis.</a:t>
            </a:r>
          </a:p>
          <a:p>
            <a:r>
              <a:rPr lang="en-IN" sz="1600" dirty="0"/>
              <a:t>❖ </a:t>
            </a:r>
            <a:r>
              <a:rPr lang="en-IN" sz="1600" b="1" dirty="0"/>
              <a:t>Blockchain-Backed Data Integrity</a:t>
            </a:r>
            <a:r>
              <a:rPr lang="en-IN" sz="1600" dirty="0"/>
              <a:t> with tamper-evident audit trails.</a:t>
            </a:r>
          </a:p>
          <a:p>
            <a:endParaRPr lang="en-IN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BD65CB-1D62-2CAA-EEF7-85478FB77F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85" r="4738" b="3679"/>
          <a:stretch>
            <a:fillRect/>
          </a:stretch>
        </p:blipFill>
        <p:spPr>
          <a:xfrm>
            <a:off x="1246500" y="937925"/>
            <a:ext cx="9010780" cy="5385299"/>
          </a:xfrm>
          <a:prstGeom prst="rect">
            <a:avLst/>
          </a:prstGeom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0259" y="256503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ISIS</a:t>
            </a:r>
            <a:endParaRPr lang="en-IN" sz="2800" b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E06BACF1-8AF6-8FD9-6AC7-83E422D3CF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69" y="256503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ISIS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9EA403-36DE-9F9D-4329-C4D044E3C240}"/>
              </a:ext>
            </a:extLst>
          </p:cNvPr>
          <p:cNvSpPr txBox="1"/>
          <p:nvPr/>
        </p:nvSpPr>
        <p:spPr>
          <a:xfrm>
            <a:off x="329773" y="1138132"/>
            <a:ext cx="2773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Feasibility Overview</a:t>
            </a:r>
            <a:endParaRPr lang="en-IN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D24DC-C6C1-7F54-7127-9FD147AE5C2A}"/>
              </a:ext>
            </a:extLst>
          </p:cNvPr>
          <p:cNvSpPr txBox="1"/>
          <p:nvPr/>
        </p:nvSpPr>
        <p:spPr>
          <a:xfrm>
            <a:off x="329769" y="1599797"/>
            <a:ext cx="472764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Book Antiqua" panose="02040602050305030304" pitchFamily="18" charset="0"/>
              </a:rPr>
              <a:t>❖ </a:t>
            </a:r>
            <a:r>
              <a:rPr lang="en-IN" b="1" dirty="0">
                <a:latin typeface="Book Antiqua" panose="02040602050305030304" pitchFamily="18" charset="0"/>
              </a:rPr>
              <a:t>TECHNICAL:</a:t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dirty="0">
                <a:latin typeface="Book Antiqua" panose="02040602050305030304" pitchFamily="18" charset="0"/>
              </a:rPr>
              <a:t>Open-source AI, NLP, ML and graph technologies enable practical implementation.</a:t>
            </a:r>
          </a:p>
          <a:p>
            <a:endParaRPr lang="en-IN" dirty="0">
              <a:latin typeface="Book Antiqua" panose="02040602050305030304" pitchFamily="18" charset="0"/>
            </a:endParaRPr>
          </a:p>
          <a:p>
            <a:r>
              <a:rPr lang="en-IN" dirty="0">
                <a:latin typeface="Book Antiqua" panose="02040602050305030304" pitchFamily="18" charset="0"/>
              </a:rPr>
              <a:t>❖ </a:t>
            </a:r>
            <a:r>
              <a:rPr lang="en-IN" b="1" dirty="0">
                <a:latin typeface="Book Antiqua" panose="02040602050305030304" pitchFamily="18" charset="0"/>
              </a:rPr>
              <a:t>FINANCIAL:</a:t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dirty="0">
                <a:latin typeface="Book Antiqua" panose="02040602050305030304" pitchFamily="18" charset="0"/>
              </a:rPr>
              <a:t>Low-cost development using open-source tools and pretrained models.</a:t>
            </a:r>
          </a:p>
          <a:p>
            <a:endParaRPr lang="en-IN" dirty="0">
              <a:latin typeface="Book Antiqua" panose="02040602050305030304" pitchFamily="18" charset="0"/>
            </a:endParaRPr>
          </a:p>
          <a:p>
            <a:r>
              <a:rPr lang="en-IN" dirty="0">
                <a:latin typeface="Book Antiqua" panose="02040602050305030304" pitchFamily="18" charset="0"/>
              </a:rPr>
              <a:t>❖ </a:t>
            </a:r>
            <a:r>
              <a:rPr lang="en-IN" b="1" dirty="0">
                <a:latin typeface="Book Antiqua" panose="02040602050305030304" pitchFamily="18" charset="0"/>
              </a:rPr>
              <a:t>OPERATIONAL:</a:t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dirty="0">
                <a:latin typeface="Book Antiqua" panose="02040602050305030304" pitchFamily="18" charset="0"/>
              </a:rPr>
              <a:t>Visual dashboards simplify complex criminal network analysis.</a:t>
            </a:r>
          </a:p>
          <a:p>
            <a:endParaRPr lang="en-IN" dirty="0">
              <a:latin typeface="Book Antiqua" panose="02040602050305030304" pitchFamily="18" charset="0"/>
            </a:endParaRPr>
          </a:p>
          <a:p>
            <a:r>
              <a:rPr lang="en-IN" dirty="0">
                <a:latin typeface="Book Antiqua" panose="02040602050305030304" pitchFamily="18" charset="0"/>
              </a:rPr>
              <a:t>❖ </a:t>
            </a:r>
            <a:r>
              <a:rPr lang="en-IN" b="1" dirty="0">
                <a:latin typeface="Book Antiqua" panose="02040602050305030304" pitchFamily="18" charset="0"/>
              </a:rPr>
              <a:t>SCALABILITY:</a:t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dirty="0">
                <a:latin typeface="Book Antiqua" panose="02040602050305030304" pitchFamily="18" charset="0"/>
              </a:rPr>
              <a:t>Graph-based architecture can expand as data sources increase.</a:t>
            </a:r>
          </a:p>
          <a:p>
            <a:endParaRPr lang="en-IN" dirty="0">
              <a:latin typeface="Book Antiqua" panose="0204060205030503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25394A4-2886-0339-B5F0-E6F7C0390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412" y="1571838"/>
            <a:ext cx="6677377" cy="358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8D953A51-024D-D162-20A6-AE31C6FC98C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37720" y="256503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ISIS</a:t>
            </a:r>
            <a:endParaRPr lang="en-IN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307D54-1F83-5EA6-351B-672D97238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673" y="1059053"/>
            <a:ext cx="9388654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CDE51F35-07F2-F0F4-4B03-627B05FA2FD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69" y="256503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ISIS</a:t>
            </a:r>
            <a:endParaRPr lang="en-IN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2B5A13-9E06-8E29-AEB7-C220D90DD5A9}"/>
              </a:ext>
            </a:extLst>
          </p:cNvPr>
          <p:cNvSpPr txBox="1"/>
          <p:nvPr/>
        </p:nvSpPr>
        <p:spPr>
          <a:xfrm>
            <a:off x="135171" y="1150646"/>
            <a:ext cx="12056828" cy="545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Criminal Network Analysis : </a:t>
            </a:r>
            <a:r>
              <a:rPr lang="en-US" dirty="0">
                <a:hlinkClick r:id="rId4"/>
              </a:rPr>
              <a:t>Link Prediction in Criminal Networks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Graph Analytics :</a:t>
            </a:r>
            <a:br>
              <a:rPr lang="en-IN" dirty="0"/>
            </a:br>
            <a:r>
              <a:rPr lang="en-IN" dirty="0"/>
              <a:t>   </a:t>
            </a:r>
            <a:r>
              <a:rPr lang="en-IN" dirty="0">
                <a:hlinkClick r:id="rId5"/>
              </a:rPr>
              <a:t>Neo4j Graph Data Science — Centrality Algorithms </a:t>
            </a: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	</a:t>
            </a:r>
            <a:r>
              <a:rPr lang="en-IN" dirty="0">
                <a:hlinkClick r:id="rId6"/>
              </a:rPr>
              <a:t>Neo4j Graph Data Science — Community Detection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Dataset for AI / Anomaly Detection :</a:t>
            </a:r>
            <a:br>
              <a:rPr lang="en-IN" dirty="0"/>
            </a:br>
            <a:r>
              <a:rPr lang="en-IN" dirty="0"/>
              <a:t> </a:t>
            </a:r>
            <a:r>
              <a:rPr lang="en-IN" dirty="0">
                <a:hlinkClick r:id="rId7"/>
              </a:rPr>
              <a:t>IBM AML-Data — Synthetic Financial Transaction Dataset</a:t>
            </a:r>
            <a:br>
              <a:rPr lang="en-IN" dirty="0"/>
            </a:br>
            <a:r>
              <a:rPr lang="en-IN" dirty="0">
                <a:hlinkClick r:id="rId8"/>
              </a:rPr>
              <a:t>IBM </a:t>
            </a:r>
            <a:r>
              <a:rPr lang="en-IN" dirty="0" err="1">
                <a:hlinkClick r:id="rId8"/>
              </a:rPr>
              <a:t>AMLSim</a:t>
            </a:r>
            <a:r>
              <a:rPr lang="en-IN" dirty="0">
                <a:hlinkClick r:id="rId8"/>
              </a:rPr>
              <a:t> — Synthetic Transaction Network Generator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Blockchain &amp; Cybersecurity - </a:t>
            </a:r>
            <a:r>
              <a:rPr lang="en-IN" dirty="0">
                <a:hlinkClick r:id="rId9"/>
              </a:rPr>
              <a:t>Regueiro et al. (2021) — A Blockchain-Based Audit Trail Mechanism: Design and Implementation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7669</TotalTime>
  <Words>457</Words>
  <Application>Microsoft Office PowerPoint</Application>
  <PresentationFormat>Widescreen</PresentationFormat>
  <Paragraphs>69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Book Antiqua</vt:lpstr>
      <vt:lpstr>Calibri</vt:lpstr>
      <vt:lpstr>Garamond</vt:lpstr>
      <vt:lpstr>Times New Roman</vt:lpstr>
      <vt:lpstr>TradeGothic</vt:lpstr>
      <vt:lpstr>Office Theme</vt:lpstr>
      <vt:lpstr>SMART INDIA HACKATHON 2026</vt:lpstr>
      <vt:lpstr>AI-Powered Criminal Network Analysis System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coolguy 1405</cp:lastModifiedBy>
  <cp:revision>151</cp:revision>
  <dcterms:created xsi:type="dcterms:W3CDTF">2013-12-12T18:46:50Z</dcterms:created>
  <dcterms:modified xsi:type="dcterms:W3CDTF">2026-08-30T13:08:01Z</dcterms:modified>
  <cp:category/>
</cp:coreProperties>
</file>